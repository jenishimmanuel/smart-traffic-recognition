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5143500" type="screen16x9"/>
  <p:notesSz cx="6858000" cy="9144000"/>
  <p:embeddedFontLst>
    <p:embeddedFont>
      <p:font typeface="Barlow Medium" panose="00000600000000000000" pitchFamily="2" charset="0"/>
      <p:regular r:id="rId11"/>
      <p:italic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  <p:embeddedFont>
      <p:font typeface="Miriam Libre" panose="00000500000000000000" pitchFamily="2" charset="-79"/>
      <p:regular r:id="rId17"/>
      <p:bold r:id="rId18"/>
    </p:embeddedFont>
    <p:embeddedFont>
      <p:font typeface="Onest Medium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iS5dTMLR0C1YOgKhSo5yrEqim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p1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a952afb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34a952afb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a952afb2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4a952afb2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a952afb2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4a952afb2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a952afb2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4a952afb2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a952afb2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4a952afb2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9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2cc56560a3_0_77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25767" y="411797"/>
            <a:ext cx="66033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1345564" y="1270317"/>
            <a:ext cx="6221100" cy="3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8682990" y="4851181"/>
            <a:ext cx="20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/>
          <p:nvPr/>
        </p:nvSpPr>
        <p:spPr>
          <a:xfrm>
            <a:off x="318300" y="2884650"/>
            <a:ext cx="8507400" cy="15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000" b="1" dirty="0">
                <a:solidFill>
                  <a:srgbClr val="0BD752"/>
                </a:solidFill>
                <a:latin typeface="Miriam Libre"/>
                <a:ea typeface="Miriam Libre"/>
                <a:cs typeface="Miriam Libre"/>
                <a:sym typeface="Miriam Libre"/>
              </a:rPr>
              <a:t>GUVI</a:t>
            </a:r>
            <a:r>
              <a:rPr lang="en" sz="3000" b="1" dirty="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- </a:t>
            </a:r>
            <a:r>
              <a:rPr lang="en" sz="3000" b="1" dirty="0">
                <a:solidFill>
                  <a:srgbClr val="304443"/>
                </a:solidFill>
                <a:latin typeface="Miriam Libre"/>
                <a:ea typeface="Miriam Libre"/>
                <a:cs typeface="Miriam Libre"/>
                <a:sym typeface="Miriam Libre"/>
              </a:rPr>
              <a:t>Naan Mudhalvan </a:t>
            </a:r>
            <a:endParaRPr sz="3000" b="1" dirty="0">
              <a:solidFill>
                <a:srgbClr val="304443"/>
              </a:solidFill>
              <a:latin typeface="Miriam Libre"/>
              <a:ea typeface="Miriam Libre"/>
              <a:cs typeface="Miriam Libre"/>
              <a:sym typeface="Miriam Libr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000" b="1" dirty="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Engineering</a:t>
            </a:r>
            <a:r>
              <a:rPr lang="en" sz="4000" b="1" dirty="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</a:t>
            </a:r>
            <a:r>
              <a:rPr lang="en" sz="2800" b="1" dirty="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Hackathon 2025</a:t>
            </a:r>
            <a:endParaRPr sz="2800" b="1" i="0" u="none" strike="noStrike" cap="none" dirty="0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  <p:pic>
        <p:nvPicPr>
          <p:cNvPr id="63" name="Google Shape;63;p1" title="e16d1c85fa9b70d8d3e3ba871627db20-removebg-preview.png"/>
          <p:cNvPicPr preferRelativeResize="0"/>
          <p:nvPr/>
        </p:nvPicPr>
        <p:blipFill rotWithShape="1">
          <a:blip r:embed="rId3">
            <a:alphaModFix/>
          </a:blip>
          <a:srcRect t="20295" b="21733"/>
          <a:stretch/>
        </p:blipFill>
        <p:spPr>
          <a:xfrm>
            <a:off x="2902875" y="901450"/>
            <a:ext cx="3338250" cy="19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 title="TamilNadu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750" y="177075"/>
            <a:ext cx="805704" cy="884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 title="TNSDC-logo-08.png"/>
          <p:cNvPicPr preferRelativeResize="0"/>
          <p:nvPr/>
        </p:nvPicPr>
        <p:blipFill rotWithShape="1">
          <a:blip r:embed="rId5">
            <a:alphaModFix/>
          </a:blip>
          <a:srcRect l="17537" t="15632" r="14726" b="15321"/>
          <a:stretch/>
        </p:blipFill>
        <p:spPr>
          <a:xfrm>
            <a:off x="1210501" y="117312"/>
            <a:ext cx="984700" cy="10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7175" y="273500"/>
            <a:ext cx="2648475" cy="5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/>
        </p:nvSpPr>
        <p:spPr>
          <a:xfrm>
            <a:off x="3467538" y="1149975"/>
            <a:ext cx="2232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rPr>
              <a:t>Learning Programs</a:t>
            </a:r>
            <a:endParaRPr sz="1800" b="0" i="0" u="none" strike="noStrike" cap="none">
              <a:solidFill>
                <a:schemeClr val="lt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713" y="193033"/>
            <a:ext cx="1492974" cy="3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4" title="e16d1c85fa9b70d8d3e3ba871627db20-removebg-preview.png"/>
          <p:cNvPicPr preferRelativeResize="0"/>
          <p:nvPr/>
        </p:nvPicPr>
        <p:blipFill rotWithShape="1">
          <a:blip r:embed="rId4">
            <a:alphaModFix/>
          </a:blip>
          <a:srcRect t="20295" b="21733"/>
          <a:stretch/>
        </p:blipFill>
        <p:spPr>
          <a:xfrm>
            <a:off x="6565825" y="98900"/>
            <a:ext cx="859100" cy="4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52BDB0-389D-4100-AB22-F6071FFF0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 descr="Traffic sign detection and recognition using deep learning-based approach  with haze removal for autonomous vehicle navigation - ScienceDirect">
            <a:extLst>
              <a:ext uri="{FF2B5EF4-FFF2-40B4-BE49-F238E27FC236}">
                <a16:creationId xmlns:a16="http://schemas.microsoft.com/office/drawing/2014/main" id="{9986A3E1-B3BC-4209-AC0F-A4AF34659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08" y="0"/>
            <a:ext cx="366743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EFB51384-F1B3-4670-9400-068AC98EC34A}"/>
              </a:ext>
            </a:extLst>
          </p:cNvPr>
          <p:cNvSpPr/>
          <p:nvPr/>
        </p:nvSpPr>
        <p:spPr>
          <a:xfrm>
            <a:off x="3976743" y="596950"/>
            <a:ext cx="5101944" cy="116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2800" dirty="0">
                <a:solidFill>
                  <a:schemeClr val="tx1"/>
                </a:solidFill>
                <a:latin typeface="Barlow Medium" panose="00000600000000000000" pitchFamily="2" charset="0"/>
                <a:ea typeface="Barlow Medium" pitchFamily="34" charset="-122"/>
                <a:cs typeface="Barlow Medium" pitchFamily="34" charset="-120"/>
              </a:rPr>
              <a:t>Problem Statement: </a:t>
            </a:r>
            <a:r>
              <a:rPr lang="en-US" sz="2800" dirty="0">
                <a:latin typeface="Barlow Medium" panose="00000600000000000000" pitchFamily="2" charset="0"/>
              </a:rPr>
              <a:t>Challenges in Traffic Sign Recognition</a:t>
            </a:r>
          </a:p>
          <a:p>
            <a:pPr marL="0" indent="0">
              <a:lnSpc>
                <a:spcPts val="4350"/>
              </a:lnSpc>
              <a:buNone/>
            </a:pPr>
            <a:endParaRPr lang="en-US" sz="2800" dirty="0">
              <a:solidFill>
                <a:schemeClr val="tx1"/>
              </a:solidFill>
              <a:latin typeface="Barlow Medium" panose="000006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0D86EE-E9B8-4DD0-BC26-8D2806460B56}"/>
              </a:ext>
            </a:extLst>
          </p:cNvPr>
          <p:cNvSpPr txBox="1"/>
          <p:nvPr/>
        </p:nvSpPr>
        <p:spPr>
          <a:xfrm>
            <a:off x="4258322" y="2048900"/>
            <a:ext cx="4073878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Challenges in Traffic Sign Recognition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   Variability in lighting conditions  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Occlusions and partial visibility 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Similar-looking background objects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Need for real-time processing</a:t>
            </a:r>
            <a:endParaRPr lang="en-I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a952afb28_0_0"/>
          <p:cNvSpPr txBox="1"/>
          <p:nvPr/>
        </p:nvSpPr>
        <p:spPr>
          <a:xfrm>
            <a:off x="3467538" y="1149975"/>
            <a:ext cx="2232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rPr>
              <a:t>Learning Programs</a:t>
            </a:r>
            <a:endParaRPr sz="1800" b="0" i="0" u="none" strike="noStrike" cap="none">
              <a:solidFill>
                <a:schemeClr val="lt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3" name="Google Shape;83;g34a952afb28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713" y="193033"/>
            <a:ext cx="1492974" cy="3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4a952afb28_0_0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34a952afb28_0_0" title="e16d1c85fa9b70d8d3e3ba871627db20-removebg-preview.png"/>
          <p:cNvPicPr preferRelativeResize="0"/>
          <p:nvPr/>
        </p:nvPicPr>
        <p:blipFill rotWithShape="1">
          <a:blip r:embed="rId4">
            <a:alphaModFix/>
          </a:blip>
          <a:srcRect t="20295" b="21733"/>
          <a:stretch/>
        </p:blipFill>
        <p:spPr>
          <a:xfrm>
            <a:off x="6565825" y="98900"/>
            <a:ext cx="859100" cy="4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4a952afb28_0_0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F176061-6221-4FCA-932F-77418A5BBB21}"/>
              </a:ext>
            </a:extLst>
          </p:cNvPr>
          <p:cNvSpPr/>
          <p:nvPr/>
        </p:nvSpPr>
        <p:spPr>
          <a:xfrm>
            <a:off x="4330749" y="1357065"/>
            <a:ext cx="4494939" cy="83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2800" dirty="0">
                <a:solidFill>
                  <a:schemeClr val="tx1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Methodology and Workflow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BC8E3-D824-4374-9B6C-515D0D58D81A}"/>
              </a:ext>
            </a:extLst>
          </p:cNvPr>
          <p:cNvSpPr txBox="1"/>
          <p:nvPr/>
        </p:nvSpPr>
        <p:spPr>
          <a:xfrm>
            <a:off x="4450524" y="2196813"/>
            <a:ext cx="4255388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-   Image acquisition and preprocessing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Feature extraction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Object detection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Classification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7521BF-77B1-4F19-90A5-DAD6BFC431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313" r="14714"/>
          <a:stretch/>
        </p:blipFill>
        <p:spPr>
          <a:xfrm>
            <a:off x="436879" y="0"/>
            <a:ext cx="322072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a952afb28_0_6"/>
          <p:cNvSpPr txBox="1"/>
          <p:nvPr/>
        </p:nvSpPr>
        <p:spPr>
          <a:xfrm>
            <a:off x="3467538" y="1149975"/>
            <a:ext cx="2232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rPr>
              <a:t>Learning Programs</a:t>
            </a:r>
            <a:endParaRPr sz="1800" b="0" i="0" u="none" strike="noStrike" cap="none">
              <a:solidFill>
                <a:schemeClr val="lt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2" name="Google Shape;92;g34a952afb28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713" y="193033"/>
            <a:ext cx="1492974" cy="3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4a952afb28_0_6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g34a952afb28_0_6" title="e16d1c85fa9b70d8d3e3ba871627db20-removebg-preview.png"/>
          <p:cNvPicPr preferRelativeResize="0"/>
          <p:nvPr/>
        </p:nvPicPr>
        <p:blipFill rotWithShape="1">
          <a:blip r:embed="rId4">
            <a:alphaModFix/>
          </a:blip>
          <a:srcRect t="20295" b="21733"/>
          <a:stretch/>
        </p:blipFill>
        <p:spPr>
          <a:xfrm>
            <a:off x="6565825" y="98900"/>
            <a:ext cx="859100" cy="4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4a952afb28_0_6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C5CACD4-014D-4F67-9793-A6EA10005C63}"/>
              </a:ext>
            </a:extLst>
          </p:cNvPr>
          <p:cNvSpPr/>
          <p:nvPr/>
        </p:nvSpPr>
        <p:spPr>
          <a:xfrm>
            <a:off x="3187224" y="1076001"/>
            <a:ext cx="2769552" cy="83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2800" dirty="0">
                <a:solidFill>
                  <a:schemeClr val="tx1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Techniques used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F567B3-1375-4B36-A6B5-C8F578E60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249" y="1807419"/>
            <a:ext cx="4653502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ORB for fast keypoint detection.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BFMatcher for feature matching.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Homography to locate signs in the frame.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Bounding boxes to visualize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a952afb28_0_12"/>
          <p:cNvSpPr txBox="1"/>
          <p:nvPr/>
        </p:nvSpPr>
        <p:spPr>
          <a:xfrm>
            <a:off x="3467538" y="1149975"/>
            <a:ext cx="2232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rPr>
              <a:t>Learning Programs</a:t>
            </a:r>
            <a:endParaRPr sz="1800" b="0" i="0" u="none" strike="noStrike" cap="none">
              <a:solidFill>
                <a:schemeClr val="lt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01" name="Google Shape;101;g34a952afb28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713" y="193033"/>
            <a:ext cx="1492974" cy="3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4a952afb28_0_12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4a952afb28_0_12" title="e16d1c85fa9b70d8d3e3ba871627db20-removebg-preview.png"/>
          <p:cNvPicPr preferRelativeResize="0"/>
          <p:nvPr/>
        </p:nvPicPr>
        <p:blipFill rotWithShape="1">
          <a:blip r:embed="rId4">
            <a:alphaModFix/>
          </a:blip>
          <a:srcRect t="20295" b="21733"/>
          <a:stretch/>
        </p:blipFill>
        <p:spPr>
          <a:xfrm>
            <a:off x="6565825" y="98900"/>
            <a:ext cx="859100" cy="4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4a952afb28_0_12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30291FE-0E82-4ACA-91EE-48AB683BA91D}"/>
              </a:ext>
            </a:extLst>
          </p:cNvPr>
          <p:cNvSpPr/>
          <p:nvPr/>
        </p:nvSpPr>
        <p:spPr>
          <a:xfrm>
            <a:off x="2610380" y="1160135"/>
            <a:ext cx="3313639" cy="83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IN" sz="2800" dirty="0">
                <a:latin typeface="Barlow Medium" panose="00000600000000000000" pitchFamily="2" charset="0"/>
              </a:rPr>
              <a:t>Why This Approach?</a:t>
            </a:r>
            <a:endParaRPr lang="en-US" sz="2800" dirty="0">
              <a:solidFill>
                <a:schemeClr val="tx1"/>
              </a:solidFill>
              <a:latin typeface="Barlow Medium" panose="000006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EDFB36-3B4E-4C4A-89F9-8A71BD3BA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624" y="1918603"/>
            <a:ext cx="4338105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than deep learning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training needed.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on low-end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99000"/>
              <a:buFont typeface="Arial" panose="020B0604020202020204" pitchFamily="34" charset="0"/>
              <a:buChar char="‾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effective for real-time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a952afb28_0_18"/>
          <p:cNvSpPr txBox="1"/>
          <p:nvPr/>
        </p:nvSpPr>
        <p:spPr>
          <a:xfrm>
            <a:off x="3467538" y="1149975"/>
            <a:ext cx="2232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rPr>
              <a:t>Learning Programs</a:t>
            </a:r>
            <a:endParaRPr sz="1800" b="0" i="0" u="none" strike="noStrike" cap="none">
              <a:solidFill>
                <a:schemeClr val="lt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10" name="Google Shape;110;g34a952afb28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713" y="193033"/>
            <a:ext cx="1492974" cy="3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4a952afb28_0_18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4a952afb28_0_18" title="e16d1c85fa9b70d8d3e3ba871627db20-removebg-preview.png"/>
          <p:cNvPicPr preferRelativeResize="0"/>
          <p:nvPr/>
        </p:nvPicPr>
        <p:blipFill rotWithShape="1">
          <a:blip r:embed="rId4">
            <a:alphaModFix/>
          </a:blip>
          <a:srcRect t="20295" b="21733"/>
          <a:stretch/>
        </p:blipFill>
        <p:spPr>
          <a:xfrm>
            <a:off x="6565825" y="98900"/>
            <a:ext cx="859100" cy="4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4a952afb28_0_18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EA00609-7516-43FF-96FF-E8AA764AD222}"/>
              </a:ext>
            </a:extLst>
          </p:cNvPr>
          <p:cNvSpPr/>
          <p:nvPr/>
        </p:nvSpPr>
        <p:spPr>
          <a:xfrm>
            <a:off x="2063206" y="1498230"/>
            <a:ext cx="5101944" cy="83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2800" dirty="0">
                <a:solidFill>
                  <a:schemeClr val="tx1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Applications and Future Work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BA2A8-D14E-4148-BC5D-F9521C8B5BBC}"/>
              </a:ext>
            </a:extLst>
          </p:cNvPr>
          <p:cNvSpPr txBox="1"/>
          <p:nvPr/>
        </p:nvSpPr>
        <p:spPr>
          <a:xfrm>
            <a:off x="2322981" y="2265025"/>
            <a:ext cx="4757813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/>
              <a:t>Autonomous vehicles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sz="2000" dirty="0"/>
              <a:t>Navigation Aid for Tourists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sz="2000" dirty="0"/>
              <a:t>Traffic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a952afb28_0_24"/>
          <p:cNvSpPr txBox="1"/>
          <p:nvPr/>
        </p:nvSpPr>
        <p:spPr>
          <a:xfrm>
            <a:off x="3467538" y="1149975"/>
            <a:ext cx="2232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rPr>
              <a:t>Learning Programs</a:t>
            </a:r>
            <a:endParaRPr sz="1800" b="0" i="0" u="none" strike="noStrike" cap="none">
              <a:solidFill>
                <a:schemeClr val="lt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19" name="Google Shape;119;g34a952afb28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713" y="193033"/>
            <a:ext cx="1492974" cy="3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4a952afb28_0_24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4a952afb28_0_24" title="e16d1c85fa9b70d8d3e3ba871627db20-removebg-preview.png"/>
          <p:cNvPicPr preferRelativeResize="0"/>
          <p:nvPr/>
        </p:nvPicPr>
        <p:blipFill rotWithShape="1">
          <a:blip r:embed="rId4">
            <a:alphaModFix/>
          </a:blip>
          <a:srcRect t="20295" b="21733"/>
          <a:stretch/>
        </p:blipFill>
        <p:spPr>
          <a:xfrm>
            <a:off x="6565825" y="98900"/>
            <a:ext cx="859100" cy="4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4a952afb28_0_24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12DA7E-646B-4491-9C3F-7339CD22ED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333" t="18568" r="47778" b="42518"/>
          <a:stretch/>
        </p:blipFill>
        <p:spPr>
          <a:xfrm>
            <a:off x="4804149" y="1723082"/>
            <a:ext cx="3988768" cy="2511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7ECD98-3A69-4863-8CDC-B9855B64491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0592"/>
          <a:stretch/>
        </p:blipFill>
        <p:spPr>
          <a:xfrm>
            <a:off x="442525" y="1733242"/>
            <a:ext cx="3988768" cy="2508503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2FC0FE07-544A-494D-8B99-97DC14D95F7D}"/>
              </a:ext>
            </a:extLst>
          </p:cNvPr>
          <p:cNvSpPr/>
          <p:nvPr/>
        </p:nvSpPr>
        <p:spPr>
          <a:xfrm>
            <a:off x="3964819" y="596950"/>
            <a:ext cx="1214361" cy="83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2800" dirty="0">
                <a:solidFill>
                  <a:schemeClr val="tx1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Output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1251300" y="2055750"/>
            <a:ext cx="6641400" cy="1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5000" b="1" i="0" u="none" strike="noStrike" cap="none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Thank You</a:t>
            </a:r>
            <a:endParaRPr sz="5000" b="1" i="0" u="none" strike="noStrike" cap="none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0" y="25"/>
            <a:ext cx="107400" cy="5143500"/>
          </a:xfrm>
          <a:prstGeom prst="rect">
            <a:avLst/>
          </a:prstGeom>
          <a:solidFill>
            <a:srgbClr val="2E3BA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713" y="193033"/>
            <a:ext cx="1492974" cy="3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9" title="e16d1c85fa9b70d8d3e3ba871627db20-removebg-preview.png"/>
          <p:cNvPicPr preferRelativeResize="0"/>
          <p:nvPr/>
        </p:nvPicPr>
        <p:blipFill rotWithShape="1">
          <a:blip r:embed="rId4">
            <a:alphaModFix/>
          </a:blip>
          <a:srcRect t="20295" b="21733"/>
          <a:stretch/>
        </p:blipFill>
        <p:spPr>
          <a:xfrm>
            <a:off x="6565825" y="98900"/>
            <a:ext cx="859100" cy="4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 txBox="1"/>
          <p:nvPr/>
        </p:nvSpPr>
        <p:spPr>
          <a:xfrm>
            <a:off x="7978188" y="4754075"/>
            <a:ext cx="84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B050"/>
                </a:solidFill>
                <a:latin typeface="Miriam Libre"/>
                <a:ea typeface="Miriam Libre"/>
                <a:cs typeface="Miriam Libre"/>
                <a:sym typeface="Miriam Libre"/>
              </a:rPr>
              <a:t>www.guvi.in</a:t>
            </a:r>
            <a:endParaRPr sz="700"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170</Words>
  <Application>Microsoft Office PowerPoint</Application>
  <PresentationFormat>On-screen Show (16:9)</PresentationFormat>
  <Paragraphs>45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Aakash Thirani</dc:creator>
  <cp:lastModifiedBy>Gopika K</cp:lastModifiedBy>
  <cp:revision>5</cp:revision>
  <dcterms:modified xsi:type="dcterms:W3CDTF">2025-05-20T16:51:00Z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7ec43ca2-a5af-4e45-a929-9f493f8bf17b</vt:lpwstr>
  </property>
  <property fmtid="{D5CDD505-2E9C-101B-9397-08002B2CF9AE}" pid="3" name="HCLClassD6">
    <vt:lpwstr>False</vt:lpwstr>
  </property>
  <property fmtid="{D5CDD505-2E9C-101B-9397-08002B2CF9AE}" pid="4" name="HCLClassification">
    <vt:lpwstr>HCL_Cla5s_C0nf1dent1al</vt:lpwstr>
  </property>
  <property fmtid="{D5CDD505-2E9C-101B-9397-08002B2CF9AE}" pid="5" name="ContentTypeId">
    <vt:lpwstr>0x010100B0232A7A95DC3B47801E3AB5EDC9230A</vt:lpwstr>
  </property>
</Properties>
</file>